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031200" cy="21031200"/>
  <p:notesSz cx="21031200" cy="2103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00" cy="21031200"/>
          </a:xfrm>
          <a:prstGeom prst="rect">
            <a:avLst/>
          </a:prstGeom>
          <a:ln/>
          <a:effectLst>
            <a:outerShdw sx="100000" sy="100000" kx="0" ky="0" algn="bl" rotWithShape="0" blurRad="381000" dist="762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71500" y="2076450"/>
            <a:ext cx="19888200" cy="9525"/>
          </a:xfrm>
          <a:prstGeom prst="rect">
            <a:avLst/>
          </a:prstGeom>
          <a:solidFill>
            <a:srgbClr val="E6E5E1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514350"/>
            <a:ext cx="20484846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b="1" spc="-45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PerturbCausal: Virtual Cell Model Predictions Do Not Substitute for Real Perturb-seq in Causal Network Recovery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571500" y="1664970"/>
            <a:ext cx="618801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Aayan Alwani · William A. Shine Great Neck South High School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5645027" y="1695450"/>
            <a:ext cx="48146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ISMB 2026 · ISCB · </a:t>
            </a:r>
            <a:pPr algn="r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AA1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Washington, D.C. · 13-16 July 2026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71500" y="2611755"/>
            <a:ext cx="4714875" cy="1905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2293620"/>
            <a:ext cx="35278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spc="-37" kern="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52857" y="2293620"/>
            <a:ext cx="165046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571500" y="2745105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VCMs promise in-silico CRISPR screens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71500" y="303276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714018" y="3032760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cell models are marketed as in-silico substitutes for CRISPR screens that cost millions of dollars per cell line.</a:t>
            </a:r>
            <a:endParaRPr lang="en-US" sz="1313" dirty="0"/>
          </a:p>
        </p:txBody>
      </p:sp>
      <p:sp>
        <p:nvSpPr>
          <p:cNvPr id="13" name="Text 11"/>
          <p:cNvSpPr/>
          <p:nvPr/>
        </p:nvSpPr>
        <p:spPr>
          <a:xfrm>
            <a:off x="571500" y="361759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714018" y="3617595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their predictions were trustworthy, much of perturbation biology could move in-silico.</a:t>
            </a:r>
            <a:endParaRPr lang="en-US" sz="1313" dirty="0"/>
          </a:p>
        </p:txBody>
      </p:sp>
      <p:sp>
        <p:nvSpPr>
          <p:cNvPr id="15" name="Text 13"/>
          <p:cNvSpPr/>
          <p:nvPr/>
        </p:nvSpPr>
        <p:spPr>
          <a:xfrm>
            <a:off x="571500" y="4297680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work: they fail at per-gene prediction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571500" y="458533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714018" y="4585335"/>
            <a:ext cx="470952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VCMs do not beat simple linear baselines at per-gene expression prediction (Ahlmann-Eltze &amp; Huber 2025, Nat Methods).</a:t>
            </a:r>
            <a:endParaRPr lang="en-US" sz="1313" dirty="0"/>
          </a:p>
        </p:txBody>
      </p:sp>
      <p:sp>
        <p:nvSpPr>
          <p:cNvPr id="18" name="Text 16"/>
          <p:cNvSpPr/>
          <p:nvPr/>
        </p:nvSpPr>
        <p:spPr>
          <a:xfrm>
            <a:off x="571500" y="542925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14018" y="5429250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per-gene accuracy is a property of the marginal distribution only.</a:t>
            </a:r>
            <a:endParaRPr lang="en-US" sz="1313" dirty="0"/>
          </a:p>
        </p:txBody>
      </p:sp>
      <p:sp>
        <p:nvSpPr>
          <p:cNvPr id="20" name="Text 18"/>
          <p:cNvSpPr/>
          <p:nvPr/>
        </p:nvSpPr>
        <p:spPr>
          <a:xfrm>
            <a:off x="571500" y="6242685"/>
            <a:ext cx="485632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cheap virtual cell replace a real screen, downstream?</a:t>
            </a:r>
            <a:endParaRPr lang="en-US" sz="1425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6751320"/>
            <a:ext cx="4714875" cy="30749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71500" y="9915525"/>
            <a:ext cx="4856321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1. Real and virtual Perturb-seq feed one fixed causal-discovery engine. We ask whether the in-silico lane substitutes for the expensive real lane in the recovered network.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71500" y="10759440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 is downstream, in the joint structure</a:t>
            </a:r>
            <a:endParaRPr lang="en-US" sz="1425" dirty="0"/>
          </a:p>
        </p:txBody>
      </p:sp>
      <p:sp>
        <p:nvSpPr>
          <p:cNvPr id="24" name="Text 21"/>
          <p:cNvSpPr/>
          <p:nvPr/>
        </p:nvSpPr>
        <p:spPr>
          <a:xfrm>
            <a:off x="571500" y="1104709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25" name="Text 22"/>
          <p:cNvSpPr/>
          <p:nvPr/>
        </p:nvSpPr>
        <p:spPr>
          <a:xfrm>
            <a:off x="714018" y="11047095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Drug-target ID, combination prediction, and GRN inference depend on the joint distribution across genes.</a:t>
            </a:r>
            <a:endParaRPr lang="en-US" sz="1313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11631931"/>
            <a:ext cx="4714875" cy="239839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71500" y="14117956"/>
            <a:ext cx="485632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2. Two different axes. Deep VCMs sit high on the marginal, low on the joint; prior work tested only the marginal axis.</a:t>
            </a:r>
            <a:endParaRPr lang="en-US" sz="10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14512290"/>
            <a:ext cx="4714875" cy="180391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71500" y="16403956"/>
            <a:ext cx="485632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3. A model can match every per-gene level (node shading) yet scramble the gene-gene wiring causal discovery reads.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571500" y="17064990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question, and our contribution</a:t>
            </a:r>
            <a:endParaRPr lang="en-US" sz="1425" dirty="0"/>
          </a:p>
        </p:txBody>
      </p:sp>
      <p:sp>
        <p:nvSpPr>
          <p:cNvPr id="31" name="Text 26"/>
          <p:cNvSpPr/>
          <p:nvPr/>
        </p:nvSpPr>
        <p:spPr>
          <a:xfrm>
            <a:off x="571500" y="1735264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32" name="Text 27"/>
          <p:cNvSpPr/>
          <p:nvPr/>
        </p:nvSpPr>
        <p:spPr>
          <a:xfrm>
            <a:off x="714018" y="17352645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had tested whether predicted data can substitute for real data downstream in causal-network recovery.</a:t>
            </a:r>
            <a:endParaRPr lang="en-US" sz="1313" dirty="0"/>
          </a:p>
        </p:txBody>
      </p:sp>
      <p:sp>
        <p:nvSpPr>
          <p:cNvPr id="33" name="Text 28"/>
          <p:cNvSpPr/>
          <p:nvPr/>
        </p:nvSpPr>
        <p:spPr>
          <a:xfrm>
            <a:off x="571500" y="17937481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34" name="Text 29"/>
          <p:cNvSpPr/>
          <p:nvPr/>
        </p:nvSpPr>
        <p:spPr>
          <a:xfrm>
            <a:off x="714018" y="17937481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first benchmark that does, holding the causal algorithm fixed and varying only the data source.</a:t>
            </a:r>
            <a:endParaRPr lang="en-US" sz="1313" dirty="0"/>
          </a:p>
        </p:txBody>
      </p:sp>
      <p:sp>
        <p:nvSpPr>
          <p:cNvPr id="35" name="Text 30"/>
          <p:cNvSpPr/>
          <p:nvPr/>
        </p:nvSpPr>
        <p:spPr>
          <a:xfrm>
            <a:off x="571500" y="18522315"/>
            <a:ext cx="48563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measure how far predicted data can substitute for real data in causal-network recovery, and decompose any gap into a magnitude component and a joint-structure component.</a:t>
            </a:r>
            <a:endParaRPr lang="en-US" sz="1275" dirty="0"/>
          </a:p>
        </p:txBody>
      </p:sp>
      <p:sp>
        <p:nvSpPr>
          <p:cNvPr id="36" name="Shape 31"/>
          <p:cNvSpPr/>
          <p:nvPr/>
        </p:nvSpPr>
        <p:spPr>
          <a:xfrm>
            <a:off x="5629275" y="2611755"/>
            <a:ext cx="4714875" cy="1905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7" name="Text 32"/>
          <p:cNvSpPr/>
          <p:nvPr/>
        </p:nvSpPr>
        <p:spPr>
          <a:xfrm>
            <a:off x="5629275" y="2293620"/>
            <a:ext cx="35278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spc="-37" kern="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25" dirty="0"/>
          </a:p>
        </p:txBody>
      </p:sp>
      <p:sp>
        <p:nvSpPr>
          <p:cNvPr id="38" name="Text 33"/>
          <p:cNvSpPr/>
          <p:nvPr/>
        </p:nvSpPr>
        <p:spPr>
          <a:xfrm>
            <a:off x="6010632" y="2293620"/>
            <a:ext cx="11334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2025" dirty="0"/>
          </a:p>
        </p:txBody>
      </p:sp>
      <p:sp>
        <p:nvSpPr>
          <p:cNvPr id="39" name="Text 34"/>
          <p:cNvSpPr/>
          <p:nvPr/>
        </p:nvSpPr>
        <p:spPr>
          <a:xfrm>
            <a:off x="5629275" y="2745105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Fixed-algorithm, vary-data-source design</a:t>
            </a:r>
            <a:endParaRPr lang="en-US" sz="1425" dirty="0"/>
          </a:p>
        </p:txBody>
      </p:sp>
      <p:sp>
        <p:nvSpPr>
          <p:cNvPr id="40" name="Text 35"/>
          <p:cNvSpPr/>
          <p:nvPr/>
        </p:nvSpPr>
        <p:spPr>
          <a:xfrm>
            <a:off x="5629275" y="303276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41" name="Text 36"/>
          <p:cNvSpPr/>
          <p:nvPr/>
        </p:nvSpPr>
        <p:spPr>
          <a:xfrm>
            <a:off x="5771793" y="3032760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edge-set F1 of the predicted-data network against the network the same algorithm recovers from real data.</a:t>
            </a:r>
            <a:endParaRPr lang="en-US" sz="1313" dirty="0"/>
          </a:p>
        </p:txBody>
      </p:sp>
      <p:sp>
        <p:nvSpPr>
          <p:cNvPr id="42" name="Text 37"/>
          <p:cNvSpPr/>
          <p:nvPr/>
        </p:nvSpPr>
        <p:spPr>
          <a:xfrm>
            <a:off x="5629275" y="361759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43" name="Text 38"/>
          <p:cNvSpPr/>
          <p:nvPr/>
        </p:nvSpPr>
        <p:spPr>
          <a:xfrm>
            <a:off x="5771793" y="3617595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data source varies; the discovery algorithm is held fixed.</a:t>
            </a:r>
            <a:endParaRPr lang="en-US" sz="1313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9275" y="4297680"/>
            <a:ext cx="4714875" cy="5739765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629275" y="10121265"/>
            <a:ext cx="485632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4. Only the data source varies; the same fixed algorithm (GIES primary) runs on both, and we compare recovered edge sets.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5629275" y="10782300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Predictors: four deep VCMs and one linear</a:t>
            </a:r>
            <a:endParaRPr lang="en-US" sz="1425" dirty="0"/>
          </a:p>
        </p:txBody>
      </p:sp>
      <p:sp>
        <p:nvSpPr>
          <p:cNvPr id="47" name="Text 41"/>
          <p:cNvSpPr/>
          <p:nvPr/>
        </p:nvSpPr>
        <p:spPr>
          <a:xfrm>
            <a:off x="5629275" y="11069956"/>
            <a:ext cx="518636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GEARS · graph neural network</a:t>
            </a:r>
            <a:endParaRPr lang="en-US" sz="1313" dirty="0"/>
          </a:p>
        </p:txBody>
      </p:sp>
      <p:sp>
        <p:nvSpPr>
          <p:cNvPr id="48" name="Text 42"/>
          <p:cNvSpPr/>
          <p:nvPr/>
        </p:nvSpPr>
        <p:spPr>
          <a:xfrm>
            <a:off x="5629275" y="11334750"/>
            <a:ext cx="518636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 · conditional VAE</a:t>
            </a:r>
            <a:endParaRPr lang="en-US" sz="1313" dirty="0"/>
          </a:p>
        </p:txBody>
      </p:sp>
      <p:sp>
        <p:nvSpPr>
          <p:cNvPr id="49" name="Text 43"/>
          <p:cNvSpPr/>
          <p:nvPr/>
        </p:nvSpPr>
        <p:spPr>
          <a:xfrm>
            <a:off x="5629275" y="11599545"/>
            <a:ext cx="518636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Geneformer · 104M-parameter transformer</a:t>
            </a:r>
            <a:endParaRPr lang="en-US" sz="1313" dirty="0"/>
          </a:p>
        </p:txBody>
      </p:sp>
      <p:sp>
        <p:nvSpPr>
          <p:cNvPr id="50" name="Text 44"/>
          <p:cNvSpPr/>
          <p:nvPr/>
        </p:nvSpPr>
        <p:spPr>
          <a:xfrm>
            <a:off x="5629275" y="11864340"/>
            <a:ext cx="518636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· Arc Institute 2025 foundation model</a:t>
            </a:r>
            <a:endParaRPr lang="en-US" sz="1313" dirty="0"/>
          </a:p>
        </p:txBody>
      </p:sp>
      <p:sp>
        <p:nvSpPr>
          <p:cNvPr id="51" name="Text 45"/>
          <p:cNvSpPr/>
          <p:nvPr/>
        </p:nvSpPr>
        <p:spPr>
          <a:xfrm>
            <a:off x="5629275" y="1216723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52" name="Text 46"/>
          <p:cNvSpPr/>
          <p:nvPr/>
        </p:nvSpPr>
        <p:spPr>
          <a:xfrm>
            <a:off x="5771793" y="12167235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Comparator: sparse-linear ElasticNet fit on held-out controls, a deliberately simple baseline.</a:t>
            </a:r>
            <a:endParaRPr lang="en-US" sz="1313" dirty="0"/>
          </a:p>
        </p:txBody>
      </p:sp>
      <p:sp>
        <p:nvSpPr>
          <p:cNvPr id="53" name="Text 47"/>
          <p:cNvSpPr/>
          <p:nvPr/>
        </p:nvSpPr>
        <p:spPr>
          <a:xfrm>
            <a:off x="5629275" y="12980670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Causal-discovery backends (held fixed)</a:t>
            </a:r>
            <a:endParaRPr lang="en-US" sz="1425" dirty="0"/>
          </a:p>
        </p:txBody>
      </p:sp>
      <p:sp>
        <p:nvSpPr>
          <p:cNvPr id="54" name="Text 48"/>
          <p:cNvSpPr/>
          <p:nvPr/>
        </p:nvSpPr>
        <p:spPr>
          <a:xfrm>
            <a:off x="5629275" y="1326832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55" name="Text 49"/>
          <p:cNvSpPr/>
          <p:nvPr/>
        </p:nvSpPr>
        <p:spPr>
          <a:xfrm>
            <a:off x="5771793" y="13268325"/>
            <a:ext cx="35768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GIES: score-based, interventional (primary).</a:t>
            </a:r>
            <a:endParaRPr lang="en-US" sz="1313" dirty="0"/>
          </a:p>
        </p:txBody>
      </p:sp>
      <p:sp>
        <p:nvSpPr>
          <p:cNvPr id="56" name="Text 50"/>
          <p:cNvSpPr/>
          <p:nvPr/>
        </p:nvSpPr>
        <p:spPr>
          <a:xfrm>
            <a:off x="5629275" y="13594081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57" name="Text 51"/>
          <p:cNvSpPr/>
          <p:nvPr/>
        </p:nvSpPr>
        <p:spPr>
          <a:xfrm>
            <a:off x="5771793" y="13594081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inspre (sparse inverse of the ACE matrix), PC (constraint-based), and NOTEARS (continuous optimization).</a:t>
            </a:r>
            <a:endParaRPr lang="en-US" sz="1313" dirty="0"/>
          </a:p>
        </p:txBody>
      </p:sp>
      <p:sp>
        <p:nvSpPr>
          <p:cNvPr id="58" name="Text 52"/>
          <p:cNvSpPr/>
          <p:nvPr/>
        </p:nvSpPr>
        <p:spPr>
          <a:xfrm>
            <a:off x="5629275" y="14407515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and chance reference</a:t>
            </a:r>
            <a:endParaRPr lang="en-US" sz="1425" dirty="0"/>
          </a:p>
        </p:txBody>
      </p:sp>
      <p:sp>
        <p:nvSpPr>
          <p:cNvPr id="59" name="Text 53"/>
          <p:cNvSpPr/>
          <p:nvPr/>
        </p:nvSpPr>
        <p:spPr>
          <a:xfrm>
            <a:off x="5629275" y="1469517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60" name="Text 54"/>
          <p:cNvSpPr/>
          <p:nvPr/>
        </p:nvSpPr>
        <p:spPr>
          <a:xfrm>
            <a:off x="5771793" y="14695170"/>
            <a:ext cx="470952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Replogle K562 (primary, 200-gene subset), RPE1 (cross-context), and Norman 2019 (cross-paradigm CRISPRa). CRISPRi and CRISPRa.</a:t>
            </a:r>
            <a:endParaRPr lang="en-US" sz="1313" dirty="0"/>
          </a:p>
        </p:txBody>
      </p:sp>
      <p:sp>
        <p:nvSpPr>
          <p:cNvPr id="61" name="Text 55"/>
          <p:cNvSpPr/>
          <p:nvPr/>
        </p:nvSpPr>
        <p:spPr>
          <a:xfrm>
            <a:off x="5629275" y="1553908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62" name="Text 56"/>
          <p:cNvSpPr/>
          <p:nvPr/>
        </p:nvSpPr>
        <p:spPr>
          <a:xfrm>
            <a:off x="5771793" y="15539085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is a per-backend permutation null (shuffle each ACE column across perturbations), giving a [2.5, 97.5] band.</a:t>
            </a:r>
            <a:endParaRPr lang="en-US" sz="1313" dirty="0"/>
          </a:p>
        </p:txBody>
      </p:sp>
      <p:pic>
        <p:nvPicPr>
          <p:cNvPr id="6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29275" y="16123920"/>
            <a:ext cx="4714875" cy="1557933"/>
          </a:xfrm>
          <a:prstGeom prst="rect">
            <a:avLst/>
          </a:prstGeom>
        </p:spPr>
      </p:pic>
      <p:sp>
        <p:nvSpPr>
          <p:cNvPr id="64" name="Text 57"/>
          <p:cNvSpPr/>
          <p:nvPr/>
        </p:nvSpPr>
        <p:spPr>
          <a:xfrm>
            <a:off x="5629275" y="17764125"/>
            <a:ext cx="518636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5. How the per-backend chance band is constructed.</a:t>
            </a:r>
            <a:endParaRPr lang="en-US" sz="1050" dirty="0"/>
          </a:p>
        </p:txBody>
      </p:sp>
      <p:sp>
        <p:nvSpPr>
          <p:cNvPr id="65" name="Shape 58"/>
          <p:cNvSpPr/>
          <p:nvPr/>
        </p:nvSpPr>
        <p:spPr>
          <a:xfrm>
            <a:off x="5629275" y="18560416"/>
            <a:ext cx="4714875" cy="1905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6" name="Text 59"/>
          <p:cNvSpPr/>
          <p:nvPr/>
        </p:nvSpPr>
        <p:spPr>
          <a:xfrm>
            <a:off x="5629275" y="18242281"/>
            <a:ext cx="35278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spc="-37" kern="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25" dirty="0"/>
          </a:p>
        </p:txBody>
      </p:sp>
      <p:sp>
        <p:nvSpPr>
          <p:cNvPr id="67" name="Text 60"/>
          <p:cNvSpPr/>
          <p:nvPr/>
        </p:nvSpPr>
        <p:spPr>
          <a:xfrm>
            <a:off x="6010632" y="18242281"/>
            <a:ext cx="100524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025" dirty="0"/>
          </a:p>
        </p:txBody>
      </p:sp>
      <p:sp>
        <p:nvSpPr>
          <p:cNvPr id="68" name="Text 61"/>
          <p:cNvSpPr/>
          <p:nvPr/>
        </p:nvSpPr>
        <p:spPr>
          <a:xfrm>
            <a:off x="5629275" y="18693765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VCMs tie a sparse linear baseline</a:t>
            </a:r>
            <a:endParaRPr lang="en-US" sz="1425" dirty="0"/>
          </a:p>
        </p:txBody>
      </p:sp>
      <p:sp>
        <p:nvSpPr>
          <p:cNvPr id="69" name="Text 62"/>
          <p:cNvSpPr/>
          <p:nvPr/>
        </p:nvSpPr>
        <p:spPr>
          <a:xfrm>
            <a:off x="5629275" y="1898142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70" name="Text 63"/>
          <p:cNvSpPr/>
          <p:nvPr/>
        </p:nvSpPr>
        <p:spPr>
          <a:xfrm>
            <a:off x="5771793" y="18981420"/>
            <a:ext cx="470952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K562, N=200, 5 seeds: no pairwise difference at p&lt;0.05, TOST-equivalent at Δ = 0.045 F1 (CPA +0.014, GEARS +0.020, Geneformer +0.0002).</a:t>
            </a:r>
            <a:endParaRPr lang="en-US" sz="1313" dirty="0"/>
          </a:p>
        </p:txBody>
      </p:sp>
      <p:sp>
        <p:nvSpPr>
          <p:cNvPr id="71" name="Text 64"/>
          <p:cNvSpPr/>
          <p:nvPr/>
        </p:nvSpPr>
        <p:spPr>
          <a:xfrm>
            <a:off x="10687051" y="236029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72" name="Text 65"/>
          <p:cNvSpPr/>
          <p:nvPr/>
        </p:nvSpPr>
        <p:spPr>
          <a:xfrm>
            <a:off x="10829568" y="2360295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104M transformer, a GO-prior GNN, and a conditional VAE all tie a linear regression.</a:t>
            </a:r>
            <a:endParaRPr lang="en-US" sz="1313" dirty="0"/>
          </a:p>
        </p:txBody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87051" y="3040380"/>
            <a:ext cx="4714875" cy="3648789"/>
          </a:xfrm>
          <a:prstGeom prst="rect">
            <a:avLst/>
          </a:prstGeom>
        </p:spPr>
      </p:pic>
      <p:sp>
        <p:nvSpPr>
          <p:cNvPr id="74" name="Text 66"/>
          <p:cNvSpPr/>
          <p:nvPr/>
        </p:nvSpPr>
        <p:spPr>
          <a:xfrm>
            <a:off x="10687051" y="6776085"/>
            <a:ext cx="485632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6. Edge-set F1 vs the real-data GIES network (K562, N=200, 5 seeds); 95% CI whiskers.</a:t>
            </a:r>
            <a:endParaRPr lang="en-US" sz="1050" dirty="0"/>
          </a:p>
        </p:txBody>
      </p:sp>
      <p:sp>
        <p:nvSpPr>
          <p:cNvPr id="75" name="Text 67"/>
          <p:cNvSpPr/>
          <p:nvPr/>
        </p:nvSpPr>
        <p:spPr>
          <a:xfrm>
            <a:off x="10687051" y="7437120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across backends and datasets</a:t>
            </a:r>
            <a:endParaRPr lang="en-US" sz="1425" dirty="0"/>
          </a:p>
        </p:txBody>
      </p:sp>
      <p:pic>
        <p:nvPicPr>
          <p:cNvPr id="7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7051" y="7724775"/>
            <a:ext cx="4714875" cy="2685336"/>
          </a:xfrm>
          <a:prstGeom prst="rect">
            <a:avLst/>
          </a:prstGeom>
        </p:spPr>
      </p:pic>
      <p:sp>
        <p:nvSpPr>
          <p:cNvPr id="77" name="Text 68"/>
          <p:cNvSpPr/>
          <p:nvPr/>
        </p:nvSpPr>
        <p:spPr>
          <a:xfrm>
            <a:off x="10687051" y="10492740"/>
            <a:ext cx="485632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7. Deep VCMs vs the per-backend chance band [2.5, 97.5]%, across {RPE1, Norman} by {PC, NOTEARS, inspre}.</a:t>
            </a:r>
            <a:endParaRPr lang="en-US" sz="1050" dirty="0"/>
          </a:p>
        </p:txBody>
      </p:sp>
      <p:sp>
        <p:nvSpPr>
          <p:cNvPr id="78" name="Text 69"/>
          <p:cNvSpPr/>
          <p:nvPr/>
        </p:nvSpPr>
        <p:spPr>
          <a:xfrm>
            <a:off x="10687051" y="1087755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79" name="Text 70"/>
          <p:cNvSpPr/>
          <p:nvPr/>
        </p:nvSpPr>
        <p:spPr>
          <a:xfrm>
            <a:off x="10829568" y="10877550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deep-model F1 across the six cells is 0.440 (CPA, inspre, RPE1), inside the chance band.</a:t>
            </a:r>
            <a:endParaRPr lang="en-US" sz="1313" dirty="0"/>
          </a:p>
        </p:txBody>
      </p:sp>
      <p:sp>
        <p:nvSpPr>
          <p:cNvPr id="80" name="Text 71"/>
          <p:cNvSpPr/>
          <p:nvPr/>
        </p:nvSpPr>
        <p:spPr>
          <a:xfrm>
            <a:off x="10687051" y="1146238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81" name="Text 72"/>
          <p:cNvSpPr/>
          <p:nvPr/>
        </p:nvSpPr>
        <p:spPr>
          <a:xfrm>
            <a:off x="10829568" y="11462385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ElasticNet is strongest in 4 of 6; no deep VCM exceeds it on any backend or dataset.</a:t>
            </a:r>
            <a:endParaRPr lang="en-US" sz="1313" dirty="0"/>
          </a:p>
        </p:txBody>
      </p:sp>
      <p:sp>
        <p:nvSpPr>
          <p:cNvPr id="82" name="Text 73"/>
          <p:cNvSpPr/>
          <p:nvPr/>
        </p:nvSpPr>
        <p:spPr>
          <a:xfrm>
            <a:off x="10687051" y="12275820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effect-size inflation is mode collapse</a:t>
            </a:r>
            <a:endParaRPr lang="en-US" sz="1425" dirty="0"/>
          </a:p>
        </p:txBody>
      </p:sp>
      <p:pic>
        <p:nvPicPr>
          <p:cNvPr id="8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87051" y="12563475"/>
            <a:ext cx="4714875" cy="2193369"/>
          </a:xfrm>
          <a:prstGeom prst="rect">
            <a:avLst/>
          </a:prstGeom>
        </p:spPr>
      </p:pic>
      <p:sp>
        <p:nvSpPr>
          <p:cNvPr id="84" name="Text 74"/>
          <p:cNvSpPr/>
          <p:nvPr/>
        </p:nvSpPr>
        <p:spPr>
          <a:xfrm>
            <a:off x="10687051" y="14843760"/>
            <a:ext cx="485632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8. Real cells respond sparsely and diversely; VCMs light up nearly every gene, near-identically across perturbations.</a:t>
            </a:r>
            <a:endParaRPr lang="en-US" sz="1050" dirty="0"/>
          </a:p>
        </p:txBody>
      </p:sp>
      <p:sp>
        <p:nvSpPr>
          <p:cNvPr id="85" name="Text 75"/>
          <p:cNvSpPr/>
          <p:nvPr/>
        </p:nvSpPr>
        <p:spPr>
          <a:xfrm>
            <a:off x="10687051" y="1522857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86" name="Text 76"/>
          <p:cNvSpPr/>
          <p:nvPr/>
        </p:nvSpPr>
        <p:spPr>
          <a:xfrm>
            <a:off x="10829568" y="15228570"/>
            <a:ext cx="4709528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2.7% of effects exceed |log2FC| = 0.5; deep models inflate to about 63% (GEARS 63.2, CPA 63.4, Geneformer 63.5), a 23x inflation identical to within 0.3 pp across architectures.</a:t>
            </a:r>
            <a:endParaRPr lang="en-US" sz="1313" dirty="0"/>
          </a:p>
        </p:txBody>
      </p:sp>
      <p:sp>
        <p:nvSpPr>
          <p:cNvPr id="87" name="Text 77"/>
          <p:cNvSpPr/>
          <p:nvPr/>
        </p:nvSpPr>
        <p:spPr>
          <a:xfrm>
            <a:off x="10687051" y="1633156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88" name="Text 78"/>
          <p:cNvSpPr/>
          <p:nvPr/>
        </p:nvSpPr>
        <p:spPr>
          <a:xfrm>
            <a:off x="10829568" y="16331565"/>
            <a:ext cx="470952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 inter-perturbation cosine is 0.84 vs real 0.08. inspre probe: CPA and Geneformer recover ZERO edges where real and ElasticNet recover about 12,000.</a:t>
            </a:r>
            <a:endParaRPr lang="en-US" sz="1313" dirty="0"/>
          </a:p>
        </p:txBody>
      </p:sp>
      <p:sp>
        <p:nvSpPr>
          <p:cNvPr id="89" name="Text 79"/>
          <p:cNvSpPr/>
          <p:nvPr/>
        </p:nvSpPr>
        <p:spPr>
          <a:xfrm>
            <a:off x="10687051" y="17404081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2025 foundation model, too</a:t>
            </a:r>
            <a:endParaRPr lang="en-US" sz="1425" dirty="0"/>
          </a:p>
        </p:txBody>
      </p:sp>
      <p:sp>
        <p:nvSpPr>
          <p:cNvPr id="90" name="Text 80"/>
          <p:cNvSpPr/>
          <p:nvPr/>
        </p:nvSpPr>
        <p:spPr>
          <a:xfrm>
            <a:off x="10687051" y="1769173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91" name="Text 81"/>
          <p:cNvSpPr/>
          <p:nvPr/>
        </p:nvSpPr>
        <p:spPr>
          <a:xfrm>
            <a:off x="10829568" y="17691735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single-seed 0.462 beats seed-42 ElasticNet but does not replicate; per-seed F1 is [0.462, 0.041, 0.048].</a:t>
            </a:r>
            <a:endParaRPr lang="en-US" sz="1313" dirty="0"/>
          </a:p>
        </p:txBody>
      </p:sp>
      <p:pic>
        <p:nvPicPr>
          <p:cNvPr id="9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687051" y="18276570"/>
            <a:ext cx="4714875" cy="983933"/>
          </a:xfrm>
          <a:prstGeom prst="rect">
            <a:avLst/>
          </a:prstGeom>
        </p:spPr>
      </p:pic>
      <p:sp>
        <p:nvSpPr>
          <p:cNvPr id="93" name="Shape 82"/>
          <p:cNvSpPr/>
          <p:nvPr/>
        </p:nvSpPr>
        <p:spPr>
          <a:xfrm>
            <a:off x="15744826" y="2611755"/>
            <a:ext cx="4714875" cy="1905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4" name="Text 83"/>
          <p:cNvSpPr/>
          <p:nvPr/>
        </p:nvSpPr>
        <p:spPr>
          <a:xfrm>
            <a:off x="15744826" y="2293620"/>
            <a:ext cx="35278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spc="-37" kern="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25" dirty="0"/>
          </a:p>
        </p:txBody>
      </p:sp>
      <p:sp>
        <p:nvSpPr>
          <p:cNvPr id="95" name="Text 84"/>
          <p:cNvSpPr/>
          <p:nvPr/>
        </p:nvSpPr>
        <p:spPr>
          <a:xfrm>
            <a:off x="16126183" y="2293620"/>
            <a:ext cx="323754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&amp; Conclusions</a:t>
            </a:r>
            <a:endParaRPr lang="en-US" sz="2025" dirty="0"/>
          </a:p>
        </p:txBody>
      </p:sp>
      <p:sp>
        <p:nvSpPr>
          <p:cNvPr id="96" name="Text 85"/>
          <p:cNvSpPr/>
          <p:nvPr/>
        </p:nvSpPr>
        <p:spPr>
          <a:xfrm>
            <a:off x="15744826" y="2745105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corrects magnitude, not causality</a:t>
            </a:r>
            <a:endParaRPr lang="en-US" sz="1425" dirty="0"/>
          </a:p>
        </p:txBody>
      </p:sp>
      <p:sp>
        <p:nvSpPr>
          <p:cNvPr id="97" name="Text 86"/>
          <p:cNvSpPr/>
          <p:nvPr/>
        </p:nvSpPr>
        <p:spPr>
          <a:xfrm>
            <a:off x="15744826" y="303276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98" name="Text 87"/>
          <p:cNvSpPr/>
          <p:nvPr/>
        </p:nvSpPr>
        <p:spPr>
          <a:xfrm>
            <a:off x="15887343" y="3032760"/>
            <a:ext cx="4709528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Quantile-matching fixes the magnitude marginal exactly (onto real = 0.114), yet held-out 160/40 causal F1 does not close: GEARS 0.303 to 0.290, CPA 0.309 to 0.289, Geneformer 0.319 to 0.287, ending below ElasticNet (0.425).</a:t>
            </a:r>
            <a:endParaRPr lang="en-US" sz="1313" dirty="0"/>
          </a:p>
        </p:txBody>
      </p:sp>
      <p:pic>
        <p:nvPicPr>
          <p:cNvPr id="9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5744826" y="4231005"/>
            <a:ext cx="4714875" cy="2070378"/>
          </a:xfrm>
          <a:prstGeom prst="rect">
            <a:avLst/>
          </a:prstGeom>
        </p:spPr>
      </p:pic>
      <p:sp>
        <p:nvSpPr>
          <p:cNvPr id="100" name="Text 88"/>
          <p:cNvSpPr/>
          <p:nvPr/>
        </p:nvSpPr>
        <p:spPr>
          <a:xfrm>
            <a:off x="15744826" y="6389370"/>
            <a:ext cx="485632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9. Quantile-matching pins the magnitude marginal onto real (0.114) exactly, yet held-out causal F1 barely moves.</a:t>
            </a:r>
            <a:endParaRPr lang="en-US" sz="1050" dirty="0"/>
          </a:p>
        </p:txBody>
      </p:sp>
      <p:pic>
        <p:nvPicPr>
          <p:cNvPr id="10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5744826" y="6783705"/>
            <a:ext cx="4714875" cy="1332428"/>
          </a:xfrm>
          <a:prstGeom prst="rect">
            <a:avLst/>
          </a:prstGeom>
        </p:spPr>
      </p:pic>
      <p:sp>
        <p:nvSpPr>
          <p:cNvPr id="102" name="Text 89"/>
          <p:cNvSpPr/>
          <p:nvPr/>
        </p:nvSpPr>
        <p:spPr>
          <a:xfrm>
            <a:off x="15744826" y="8202930"/>
            <a:ext cx="485632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10. Calibration turns a per-gene dial to fix the ruler; the scrambled wiring underneath is untouched.</a:t>
            </a:r>
            <a:endParaRPr lang="en-US" sz="1050" dirty="0"/>
          </a:p>
        </p:txBody>
      </p:sp>
      <p:sp>
        <p:nvSpPr>
          <p:cNvPr id="103" name="Text 90"/>
          <p:cNvSpPr/>
          <p:nvPr/>
        </p:nvSpPr>
        <p:spPr>
          <a:xfrm>
            <a:off x="15744826" y="8863965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an identifiability result</a:t>
            </a:r>
            <a:endParaRPr lang="en-US" sz="1425" dirty="0"/>
          </a:p>
        </p:txBody>
      </p:sp>
      <p:sp>
        <p:nvSpPr>
          <p:cNvPr id="104" name="Text 91"/>
          <p:cNvSpPr/>
          <p:nvPr/>
        </p:nvSpPr>
        <p:spPr>
          <a:xfrm>
            <a:off x="15744826" y="9151620"/>
            <a:ext cx="48563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Proposition. Conditional independence is invariant under per-gene monotone (rank-preserving) calibration, so marginal rescaling provably cannot change the recovered graph.</a:t>
            </a:r>
            <a:endParaRPr lang="en-US" sz="1275" dirty="0"/>
          </a:p>
        </p:txBody>
      </p:sp>
      <p:sp>
        <p:nvSpPr>
          <p:cNvPr id="105" name="Text 92"/>
          <p:cNvSpPr/>
          <p:nvPr/>
        </p:nvSpPr>
        <p:spPr>
          <a:xfrm>
            <a:off x="15744826" y="989457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06" name="Text 93"/>
          <p:cNvSpPr/>
          <p:nvPr/>
        </p:nvSpPr>
        <p:spPr>
          <a:xfrm>
            <a:off x="15887343" y="9894570"/>
            <a:ext cx="470952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residual is the off-diagonal joint (precision-matrix support) structure, so closing the gap needs a training-time intervention, not post-hoc rescaling.</a:t>
            </a:r>
            <a:endParaRPr lang="en-US" sz="1313" dirty="0"/>
          </a:p>
        </p:txBody>
      </p:sp>
      <p:sp>
        <p:nvSpPr>
          <p:cNvPr id="107" name="Text 94"/>
          <p:cNvSpPr/>
          <p:nvPr/>
        </p:nvSpPr>
        <p:spPr>
          <a:xfrm>
            <a:off x="15744826" y="10967085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reachable</a:t>
            </a:r>
            <a:endParaRPr lang="en-US" sz="1425" dirty="0"/>
          </a:p>
        </p:txBody>
      </p:sp>
      <p:sp>
        <p:nvSpPr>
          <p:cNvPr id="108" name="Text 95"/>
          <p:cNvSpPr/>
          <p:nvPr/>
        </p:nvSpPr>
        <p:spPr>
          <a:xfrm>
            <a:off x="15744826" y="1125474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09" name="Text 96"/>
          <p:cNvSpPr/>
          <p:nvPr/>
        </p:nvSpPr>
        <p:spPr>
          <a:xfrm>
            <a:off x="15887343" y="11254740"/>
            <a:ext cx="470952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no-GPU learned joint-transform proxy raises held-out CPA causal F1 from 0.424 to 0.535 (+0.111), the first evidence the gap is reachable by a joint operation.</a:t>
            </a:r>
            <a:endParaRPr lang="en-US" sz="1313" dirty="0"/>
          </a:p>
        </p:txBody>
      </p:sp>
      <p:sp>
        <p:nvSpPr>
          <p:cNvPr id="110" name="Text 97"/>
          <p:cNvSpPr/>
          <p:nvPr/>
        </p:nvSpPr>
        <p:spPr>
          <a:xfrm>
            <a:off x="15744826" y="12098656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11" name="Text 98"/>
          <p:cNvSpPr/>
          <p:nvPr/>
        </p:nvSpPr>
        <p:spPr>
          <a:xfrm>
            <a:off x="15887343" y="12098656"/>
            <a:ext cx="470952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naive covariance-Frobenius penalty alone fails a pre-registered multi-seed gate (+0.003), so it is the learned joint map, not the raw penalty.</a:t>
            </a:r>
            <a:endParaRPr lang="en-US" sz="1313" dirty="0"/>
          </a:p>
        </p:txBody>
      </p:sp>
      <p:sp>
        <p:nvSpPr>
          <p:cNvPr id="112" name="Text 99"/>
          <p:cNvSpPr/>
          <p:nvPr/>
        </p:nvSpPr>
        <p:spPr>
          <a:xfrm>
            <a:off x="15744826" y="13171170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425" dirty="0"/>
          </a:p>
        </p:txBody>
      </p:sp>
      <p:sp>
        <p:nvSpPr>
          <p:cNvPr id="113" name="Text 100"/>
          <p:cNvSpPr/>
          <p:nvPr/>
        </p:nvSpPr>
        <p:spPr>
          <a:xfrm>
            <a:off x="15744826" y="1345882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14" name="Text 101"/>
          <p:cNvSpPr/>
          <p:nvPr/>
        </p:nvSpPr>
        <p:spPr>
          <a:xfrm>
            <a:off x="15887343" y="13458825"/>
            <a:ext cx="470952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substitutability gap decomposes into a magnitude marginal (calibration-correctable) plus a joint-distribution residual that calibration cannot reach.</a:t>
            </a:r>
            <a:endParaRPr lang="en-US" sz="1313" dirty="0"/>
          </a:p>
        </p:txBody>
      </p:sp>
      <p:sp>
        <p:nvSpPr>
          <p:cNvPr id="115" name="Text 102"/>
          <p:cNvSpPr/>
          <p:nvPr/>
        </p:nvSpPr>
        <p:spPr>
          <a:xfrm>
            <a:off x="15744826" y="1430274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16" name="Text 103"/>
          <p:cNvSpPr/>
          <p:nvPr/>
        </p:nvSpPr>
        <p:spPr>
          <a:xfrm>
            <a:off x="15887343" y="14302740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deep VCM beats a sparse linear baseline on causal recovery; none reaches real-data quality.</a:t>
            </a:r>
            <a:endParaRPr lang="en-US" sz="1313" dirty="0"/>
          </a:p>
        </p:txBody>
      </p:sp>
      <p:sp>
        <p:nvSpPr>
          <p:cNvPr id="117" name="Text 104"/>
          <p:cNvSpPr/>
          <p:nvPr/>
        </p:nvSpPr>
        <p:spPr>
          <a:xfrm>
            <a:off x="15744826" y="1488757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18" name="Text 105"/>
          <p:cNvSpPr/>
          <p:nvPr/>
        </p:nvSpPr>
        <p:spPr>
          <a:xfrm>
            <a:off x="15887343" y="14887575"/>
            <a:ext cx="470952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ElasticNet ties a 104M transformer: L1 sparsity matches real-response sparsity (56.8% of variance in the leading singular vector).</a:t>
            </a:r>
            <a:endParaRPr lang="en-US" sz="1313" dirty="0"/>
          </a:p>
        </p:txBody>
      </p:sp>
      <p:sp>
        <p:nvSpPr>
          <p:cNvPr id="119" name="Text 106"/>
          <p:cNvSpPr/>
          <p:nvPr/>
        </p:nvSpPr>
        <p:spPr>
          <a:xfrm>
            <a:off x="15744826" y="1573149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20" name="Text 107"/>
          <p:cNvSpPr/>
          <p:nvPr/>
        </p:nvSpPr>
        <p:spPr>
          <a:xfrm>
            <a:off x="15887343" y="15731490"/>
            <a:ext cx="469863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gap is a training-time, not post-hoc, operation.</a:t>
            </a:r>
            <a:endParaRPr lang="en-US" sz="1313" dirty="0"/>
          </a:p>
        </p:txBody>
      </p:sp>
      <p:sp>
        <p:nvSpPr>
          <p:cNvPr id="121" name="Text 108"/>
          <p:cNvSpPr/>
          <p:nvPr/>
        </p:nvSpPr>
        <p:spPr>
          <a:xfrm>
            <a:off x="15744826" y="16285845"/>
            <a:ext cx="518636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425" dirty="0"/>
          </a:p>
        </p:txBody>
      </p:sp>
      <p:sp>
        <p:nvSpPr>
          <p:cNvPr id="122" name="Text 109"/>
          <p:cNvSpPr/>
          <p:nvPr/>
        </p:nvSpPr>
        <p:spPr>
          <a:xfrm>
            <a:off x="15744826" y="16573500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23" name="Text 110"/>
          <p:cNvSpPr/>
          <p:nvPr/>
        </p:nvSpPr>
        <p:spPr>
          <a:xfrm>
            <a:off x="15887343" y="16573500"/>
            <a:ext cx="470952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is internally consistent but not yet externally biologically validated.</a:t>
            </a:r>
            <a:endParaRPr lang="en-US" sz="1313" dirty="0"/>
          </a:p>
        </p:txBody>
      </p:sp>
      <p:sp>
        <p:nvSpPr>
          <p:cNvPr id="124" name="Text 111"/>
          <p:cNvSpPr/>
          <p:nvPr/>
        </p:nvSpPr>
        <p:spPr>
          <a:xfrm>
            <a:off x="15744826" y="17158335"/>
            <a:ext cx="1329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75" dirty="0"/>
          </a:p>
        </p:txBody>
      </p:sp>
      <p:sp>
        <p:nvSpPr>
          <p:cNvPr id="125" name="Text 112"/>
          <p:cNvSpPr/>
          <p:nvPr/>
        </p:nvSpPr>
        <p:spPr>
          <a:xfrm>
            <a:off x="15887343" y="17158335"/>
            <a:ext cx="404104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13" dirty="0">
                <a:solidFill>
                  <a:srgbClr val="333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Cross-dataset cells are single-seed; N=200 scale.</a:t>
            </a:r>
            <a:endParaRPr lang="en-US" sz="1313" dirty="0"/>
          </a:p>
        </p:txBody>
      </p:sp>
      <p:sp>
        <p:nvSpPr>
          <p:cNvPr id="126" name="Text 113"/>
          <p:cNvSpPr/>
          <p:nvPr/>
        </p:nvSpPr>
        <p:spPr>
          <a:xfrm>
            <a:off x="15744826" y="17712690"/>
            <a:ext cx="518636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1200" dirty="0"/>
          </a:p>
        </p:txBody>
      </p:sp>
      <p:sp>
        <p:nvSpPr>
          <p:cNvPr id="127" name="Text 114"/>
          <p:cNvSpPr/>
          <p:nvPr/>
        </p:nvSpPr>
        <p:spPr>
          <a:xfrm>
            <a:off x="15744826" y="17962245"/>
            <a:ext cx="235743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Ahlmann-Eltze &amp; Huber 2025, </a:t>
            </a:r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Methods</a:t>
            </a:r>
            <a:endParaRPr lang="en-US" sz="975" dirty="0"/>
          </a:p>
        </p:txBody>
      </p:sp>
      <p:sp>
        <p:nvSpPr>
          <p:cNvPr id="128" name="Text 115"/>
          <p:cNvSpPr/>
          <p:nvPr/>
        </p:nvSpPr>
        <p:spPr>
          <a:xfrm>
            <a:off x="15744826" y="18394681"/>
            <a:ext cx="250936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Replogle 2022, </a:t>
            </a:r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</a:t>
            </a:r>
            <a:endParaRPr lang="en-US" sz="975" dirty="0"/>
          </a:p>
        </p:txBody>
      </p:sp>
      <p:sp>
        <p:nvSpPr>
          <p:cNvPr id="129" name="Text 116"/>
          <p:cNvSpPr/>
          <p:nvPr/>
        </p:nvSpPr>
        <p:spPr>
          <a:xfrm>
            <a:off x="15744826" y="18644235"/>
            <a:ext cx="250936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Norman 2019, </a:t>
            </a:r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</a:t>
            </a:r>
            <a:endParaRPr lang="en-US" sz="975" dirty="0"/>
          </a:p>
        </p:txBody>
      </p:sp>
      <p:sp>
        <p:nvSpPr>
          <p:cNvPr id="130" name="Text 117"/>
          <p:cNvSpPr/>
          <p:nvPr/>
        </p:nvSpPr>
        <p:spPr>
          <a:xfrm>
            <a:off x="15744826" y="18893790"/>
            <a:ext cx="250936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Hauser &amp; Bühlmann 2012, </a:t>
            </a:r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JMLR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(GIES)</a:t>
            </a:r>
            <a:endParaRPr lang="en-US" sz="975" dirty="0"/>
          </a:p>
        </p:txBody>
      </p:sp>
      <p:sp>
        <p:nvSpPr>
          <p:cNvPr id="131" name="Text 118"/>
          <p:cNvSpPr/>
          <p:nvPr/>
        </p:nvSpPr>
        <p:spPr>
          <a:xfrm>
            <a:off x="15744826" y="19143345"/>
            <a:ext cx="250936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2025, </a:t>
            </a:r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Commun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(inspre)</a:t>
            </a:r>
            <a:endParaRPr lang="en-US" sz="975" dirty="0"/>
          </a:p>
        </p:txBody>
      </p:sp>
      <p:sp>
        <p:nvSpPr>
          <p:cNvPr id="132" name="Text 119"/>
          <p:cNvSpPr/>
          <p:nvPr/>
        </p:nvSpPr>
        <p:spPr>
          <a:xfrm>
            <a:off x="18178463" y="18028920"/>
            <a:ext cx="250936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Lotfollahi 2023, </a:t>
            </a:r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 Syst Biol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(CPA)</a:t>
            </a:r>
            <a:endParaRPr lang="en-US" sz="975" dirty="0"/>
          </a:p>
        </p:txBody>
      </p:sp>
      <p:sp>
        <p:nvSpPr>
          <p:cNvPr id="133" name="Text 120"/>
          <p:cNvSpPr/>
          <p:nvPr/>
        </p:nvSpPr>
        <p:spPr>
          <a:xfrm>
            <a:off x="18178463" y="18278475"/>
            <a:ext cx="250936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Roohani 2024, </a:t>
            </a:r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Biotech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(GEARS)</a:t>
            </a:r>
            <a:endParaRPr lang="en-US" sz="975" dirty="0"/>
          </a:p>
        </p:txBody>
      </p:sp>
      <p:sp>
        <p:nvSpPr>
          <p:cNvPr id="134" name="Text 121"/>
          <p:cNvSpPr/>
          <p:nvPr/>
        </p:nvSpPr>
        <p:spPr>
          <a:xfrm>
            <a:off x="18178463" y="18528031"/>
            <a:ext cx="250936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Theodoris 2023, </a:t>
            </a:r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(Geneformer)</a:t>
            </a:r>
            <a:endParaRPr lang="en-US" sz="975" dirty="0"/>
          </a:p>
        </p:txBody>
      </p:sp>
      <p:sp>
        <p:nvSpPr>
          <p:cNvPr id="135" name="Text 122"/>
          <p:cNvSpPr/>
          <p:nvPr/>
        </p:nvSpPr>
        <p:spPr>
          <a:xfrm>
            <a:off x="18178463" y="18777585"/>
            <a:ext cx="250936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Adduri 2025, </a:t>
            </a:r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bioRxiv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(STATE)</a:t>
            </a:r>
            <a:endParaRPr lang="en-US" sz="975" dirty="0"/>
          </a:p>
        </p:txBody>
      </p:sp>
      <p:sp>
        <p:nvSpPr>
          <p:cNvPr id="136" name="Text 123"/>
          <p:cNvSpPr/>
          <p:nvPr/>
        </p:nvSpPr>
        <p:spPr>
          <a:xfrm>
            <a:off x="18178463" y="19027140"/>
            <a:ext cx="250936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Zou &amp; Hastie 2005, </a:t>
            </a:r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JRSS-B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(ElasticNet)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2026-07-04T06:54:08Z</dcterms:created>
  <dcterms:modified xsi:type="dcterms:W3CDTF">2026-07-04T06:54:08Z</dcterms:modified>
</cp:coreProperties>
</file>